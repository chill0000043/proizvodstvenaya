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23"/>
  </p:notesMasterIdLst>
  <p:handoutMasterIdLst>
    <p:handoutMasterId r:id="rId24"/>
  </p:handoutMasterIdLst>
  <p:sldIdLst>
    <p:sldId id="692" r:id="rId2"/>
    <p:sldId id="693" r:id="rId3"/>
    <p:sldId id="694" r:id="rId4"/>
    <p:sldId id="651" r:id="rId5"/>
    <p:sldId id="726" r:id="rId6"/>
    <p:sldId id="744" r:id="rId7"/>
    <p:sldId id="745" r:id="rId8"/>
    <p:sldId id="746" r:id="rId9"/>
    <p:sldId id="727" r:id="rId10"/>
    <p:sldId id="747" r:id="rId11"/>
    <p:sldId id="748" r:id="rId12"/>
    <p:sldId id="728" r:id="rId13"/>
    <p:sldId id="749" r:id="rId14"/>
    <p:sldId id="750" r:id="rId15"/>
    <p:sldId id="751" r:id="rId16"/>
    <p:sldId id="739" r:id="rId17"/>
    <p:sldId id="754" r:id="rId18"/>
    <p:sldId id="755" r:id="rId19"/>
    <p:sldId id="743" r:id="rId20"/>
    <p:sldId id="690" r:id="rId21"/>
    <p:sldId id="691" r:id="rId22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99CCFF"/>
    <a:srgbClr val="052E81"/>
    <a:srgbClr val="0000CC"/>
    <a:srgbClr val="003399"/>
    <a:srgbClr val="0000FF"/>
    <a:srgbClr val="3333CC"/>
    <a:srgbClr val="EB0000"/>
    <a:srgbClr val="EB1E00"/>
    <a:srgbClr val="E51F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20" autoAdjust="0"/>
    <p:restoredTop sz="96408" autoAdjust="0"/>
  </p:normalViewPr>
  <p:slideViewPr>
    <p:cSldViewPr showGuides="1">
      <p:cViewPr varScale="1">
        <p:scale>
          <a:sx n="71" d="100"/>
          <a:sy n="71" d="100"/>
        </p:scale>
        <p:origin x="1242" y="66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02.06.2026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3CA9037-5C04-413C-AFF2-1B3777C3E58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5209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xmlns="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64645" y="36215"/>
            <a:ext cx="2401735" cy="1883566"/>
            <a:chOff x="108831" y="-599499"/>
            <a:chExt cx="2520279" cy="1976534"/>
          </a:xfrm>
        </p:grpSpPr>
        <p:sp>
          <p:nvSpPr>
            <p:cNvPr id="10" name="Овал 9"/>
            <p:cNvSpPr/>
            <p:nvPr userDrawn="1"/>
          </p:nvSpPr>
          <p:spPr>
            <a:xfrm>
              <a:off x="234132" y="-565606"/>
              <a:ext cx="2269678" cy="1876450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232B74"/>
                </a:clrFrom>
                <a:clrTo>
                  <a:srgbClr val="232B74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08831" y="-599499"/>
              <a:ext cx="2520279" cy="1976534"/>
            </a:xfrm>
            <a:prstGeom prst="rect">
              <a:avLst/>
            </a:prstGeom>
          </p:spPr>
        </p:pic>
      </p:grpSp>
      <p:sp>
        <p:nvSpPr>
          <p:cNvPr id="3" name="Полилиния 2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rgbClr val="99CCFF">
              <a:alpha val="1882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Полилиния 8"/>
          <p:cNvSpPr/>
          <p:nvPr userDrawn="1"/>
        </p:nvSpPr>
        <p:spPr>
          <a:xfrm>
            <a:off x="9499310" y="6637967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Полилиния 7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xmlns="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Полилиния 6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xmlns="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xmlns="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xmlns="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xmlns="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xmlns="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xmlns="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xmlns="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Полилиния 11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xmlns="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xmlns="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xmlns="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xmlns="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xmlns="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xmlns="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xmlns="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xmlns="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xmlns="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xmlns="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xmlns="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xmlns="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xmlns="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xmlns="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xmlns="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олилиния 18"/>
          <p:cNvSpPr/>
          <p:nvPr userDrawn="1"/>
        </p:nvSpPr>
        <p:spPr>
          <a:xfrm>
            <a:off x="9451156" y="6588943"/>
            <a:ext cx="1167102" cy="909328"/>
          </a:xfrm>
          <a:custGeom>
            <a:avLst/>
            <a:gdLst>
              <a:gd name="connsiteX0" fmla="*/ 8938 w 1599150"/>
              <a:gd name="connsiteY0" fmla="*/ 604853 h 1197360"/>
              <a:gd name="connsiteX1" fmla="*/ 1593898 w 1599150"/>
              <a:gd name="connsiteY1" fmla="*/ 10493 h 1197360"/>
              <a:gd name="connsiteX2" fmla="*/ 534718 w 1599150"/>
              <a:gd name="connsiteY2" fmla="*/ 1191593 h 1197360"/>
              <a:gd name="connsiteX3" fmla="*/ 930958 w 1599150"/>
              <a:gd name="connsiteY3" fmla="*/ 467693 h 1197360"/>
              <a:gd name="connsiteX4" fmla="*/ 8938 w 1599150"/>
              <a:gd name="connsiteY4" fmla="*/ 604853 h 119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9150" h="1197360">
                <a:moveTo>
                  <a:pt x="8938" y="604853"/>
                </a:moveTo>
                <a:cubicBezTo>
                  <a:pt x="119428" y="528653"/>
                  <a:pt x="1506268" y="-87297"/>
                  <a:pt x="1593898" y="10493"/>
                </a:cubicBezTo>
                <a:cubicBezTo>
                  <a:pt x="1681528" y="108283"/>
                  <a:pt x="645208" y="1115393"/>
                  <a:pt x="534718" y="1191593"/>
                </a:cubicBezTo>
                <a:cubicBezTo>
                  <a:pt x="424228" y="1267793"/>
                  <a:pt x="1014778" y="565483"/>
                  <a:pt x="930958" y="467693"/>
                </a:cubicBezTo>
                <a:cubicBezTo>
                  <a:pt x="847138" y="369903"/>
                  <a:pt x="-101552" y="681053"/>
                  <a:pt x="8938" y="604853"/>
                </a:cubicBezTo>
                <a:close/>
              </a:path>
            </a:pathLst>
          </a:custGeom>
          <a:solidFill>
            <a:srgbClr val="E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02.06.2026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19" r:id="rId2"/>
    <p:sldLayoutId id="2147483739" r:id="rId3"/>
    <p:sldLayoutId id="2147483736" r:id="rId4"/>
    <p:sldLayoutId id="2147483738" r:id="rId5"/>
    <p:sldLayoutId id="2147483737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20" r:id="rId13"/>
    <p:sldLayoutId id="2147483721" r:id="rId14"/>
    <p:sldLayoutId id="2147483722" r:id="rId15"/>
    <p:sldLayoutId id="2147483723" r:id="rId16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wtonsoft.com/json" TargetMode="External"/><Relationship Id="rId2" Type="http://schemas.openxmlformats.org/officeDocument/2006/relationships/hyperlink" Target="https://learn.microsoft.com/ru-ru/dotnet/desktop/winform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github.com/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7533" y="4572719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/>
            </a:r>
            <a:br>
              <a:rPr lang="ru-RU" sz="2100" dirty="0"/>
            </a:br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производственной практики</a:t>
            </a:r>
            <a:br>
              <a:rPr lang="ru-RU" sz="2100" dirty="0"/>
            </a:br>
            <a:r>
              <a:rPr lang="ru-RU" sz="2100" dirty="0"/>
              <a:t> </a:t>
            </a:r>
            <a:br>
              <a:rPr lang="ru-RU" sz="2100" dirty="0"/>
            </a:br>
            <a:r>
              <a:rPr lang="ru-RU" sz="2100" dirty="0"/>
              <a:t>по профессиональному модулю ПМ.01 Разработка программных модулей программного обеспечения компьютерных систем</a:t>
            </a:r>
            <a:r>
              <a:rPr lang="ru-RU" sz="2400" dirty="0"/>
              <a:t/>
            </a:r>
            <a:br>
              <a:rPr lang="ru-RU" sz="2400" dirty="0"/>
            </a:br>
            <a:r>
              <a:rPr lang="en-US" sz="2100" dirty="0"/>
              <a:t/>
            </a:r>
            <a:br>
              <a:rPr lang="en-US" sz="2100" dirty="0"/>
            </a:br>
            <a:r>
              <a:rPr lang="ru-RU" sz="2100" dirty="0"/>
              <a:t>в период с «__» _________ 20__ г. по «__» _________ 20__ г.</a:t>
            </a:r>
            <a:r>
              <a:rPr lang="en-US" sz="2200" dirty="0"/>
              <a:t/>
            </a:r>
            <a:br>
              <a:rPr lang="en-US" sz="2200" dirty="0"/>
            </a:br>
            <a:r>
              <a:rPr lang="ru-RU" sz="2200" dirty="0"/>
              <a:t/>
            </a:r>
            <a:br>
              <a:rPr lang="ru-RU" sz="2200" dirty="0"/>
            </a:br>
            <a:r>
              <a:rPr lang="ru-RU" sz="2100" dirty="0"/>
              <a:t>Специальность 09.02.07 Информационные системы и программирование</a:t>
            </a:r>
            <a:r>
              <a:rPr lang="ru-RU" sz="2700" dirty="0"/>
              <a:t/>
            </a:r>
            <a:br>
              <a:rPr lang="ru-RU" sz="2700" dirty="0"/>
            </a:br>
            <a:r>
              <a:rPr lang="ru-RU" sz="2100" dirty="0"/>
              <a:t/>
            </a: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xmlns="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_</a:t>
            </a:r>
            <a:r>
              <a:rPr lang="ru-RU" altLang="ru-RU" sz="2400" dirty="0" err="1">
                <a:solidFill>
                  <a:srgbClr val="FF0000"/>
                </a:solidFill>
                <a:latin typeface="Calibri"/>
              </a:rPr>
              <a:t>Пягай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 Рашид </a:t>
            </a:r>
            <a:r>
              <a:rPr lang="ru-RU" altLang="ru-RU" sz="2400" dirty="0" err="1">
                <a:solidFill>
                  <a:srgbClr val="FF0000"/>
                </a:solidFill>
                <a:latin typeface="Calibri"/>
              </a:rPr>
              <a:t>Рамисович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 ___________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_И-СП9-23 ___________________________________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 </a:t>
            </a:r>
            <a:r>
              <a:rPr lang="ru-RU" altLang="ru-RU" sz="2000" dirty="0">
                <a:solidFill>
                  <a:srgbClr val="FF0000"/>
                </a:solidFill>
              </a:rPr>
              <a:t>_Магомедова М. Н._______________________</a:t>
            </a: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МИНИСТЕРСТВО ОБРАЗОВАНИЯ И НАУКИ 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РЕСПУБЛИКИ ДАГЕСТАН</a:t>
            </a:r>
          </a:p>
          <a:p>
            <a:pPr algn="ctr" fontAlgn="base" hangingPunct="0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 Частное профессиональное образовательное учреждение </a:t>
            </a:r>
          </a:p>
          <a:p>
            <a:pPr algn="ctr"/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«Республиканский </a:t>
            </a:r>
            <a:r>
              <a:rPr lang="ru-RU" sz="1600" b="1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полипрофессиональный</a:t>
            </a:r>
            <a:r>
              <a:rPr lang="ru-RU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колледж»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endParaRPr lang="ru-RU" altLang="ru-RU" sz="14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61291"/>
            <a:ext cx="9687193" cy="567848"/>
          </a:xfrm>
        </p:spPr>
        <p:txBody>
          <a:bodyPr/>
          <a:lstStyle/>
          <a:p>
            <a:r>
              <a:rPr lang="ru-RU" dirty="0"/>
              <a:t>Содержание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0156" y="1836415"/>
            <a:ext cx="9687193" cy="4349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1. </a:t>
            </a:r>
            <a:r>
              <a:rPr lang="ru-RU" sz="2000" dirty="0"/>
              <a:t>Инструктаж по соблюдению правил противопожарной безопасности, правил охраны труда, меры по обеспечению безопасности при работе с компьютерной техникой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2. </a:t>
            </a:r>
            <a:r>
              <a:rPr lang="ru-RU" dirty="0"/>
              <a:t>Анализ предметной области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3. </a:t>
            </a:r>
            <a:r>
              <a:rPr lang="ru-RU" sz="2000" dirty="0"/>
              <a:t>Разработка спецификаций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4. </a:t>
            </a:r>
            <a:r>
              <a:rPr lang="ru-RU" sz="2000" dirty="0"/>
              <a:t>Разработка кода программного продукта на основе готовой спецификации на уровне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5. </a:t>
            </a:r>
            <a:r>
              <a:rPr lang="ru-RU" sz="2000" dirty="0"/>
              <a:t>Проведение тестирования программного модуля</a:t>
            </a:r>
          </a:p>
          <a:p>
            <a:pPr algn="just">
              <a:spcBef>
                <a:spcPts val="800"/>
              </a:spcBef>
              <a:spcAft>
                <a:spcPts val="800"/>
              </a:spcAft>
            </a:pPr>
            <a:r>
              <a:rPr lang="ru-RU" sz="2500" dirty="0">
                <a:solidFill>
                  <a:srgbClr val="FF0000"/>
                </a:solidFill>
              </a:rPr>
              <a:t>6. </a:t>
            </a:r>
            <a:r>
              <a:rPr lang="ru-RU" sz="2000" dirty="0"/>
              <a:t>Вывод </a:t>
            </a:r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00959"/>
            <a:ext cx="9687193" cy="498598"/>
          </a:xfrm>
        </p:spPr>
        <p:txBody>
          <a:bodyPr/>
          <a:lstStyle/>
          <a:p>
            <a:r>
              <a:rPr lang="ru-RU" sz="3600" dirty="0"/>
              <a:t>Организационный этап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xmlns="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Я, </a:t>
            </a:r>
            <a:r>
              <a:rPr lang="ru-RU" sz="1600" dirty="0" err="1">
                <a:solidFill>
                  <a:srgbClr val="FF0000"/>
                </a:solidFill>
              </a:rPr>
              <a:t>Пягай</a:t>
            </a:r>
            <a:r>
              <a:rPr lang="ru-RU" sz="1600" dirty="0">
                <a:solidFill>
                  <a:srgbClr val="FF0000"/>
                </a:solidFill>
              </a:rPr>
              <a:t> Рашид </a:t>
            </a:r>
            <a:r>
              <a:rPr lang="ru-RU" sz="1600" dirty="0" err="1">
                <a:solidFill>
                  <a:srgbClr val="FF0000"/>
                </a:solidFill>
              </a:rPr>
              <a:t>Рамисович</a:t>
            </a:r>
            <a:r>
              <a:rPr lang="ru-RU" sz="1600" dirty="0"/>
              <a:t>, проходил(а) производственную практику на базе ГБУ РД «Кизлярская ЦГБ».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При выполнении индивидуального задания по практике решал(а) задачу создания приложения </a:t>
            </a:r>
            <a:r>
              <a:rPr lang="ru-RU" sz="1600" i="0" dirty="0">
                <a:solidFill>
                  <a:srgbClr val="0F1115"/>
                </a:solidFill>
                <a:effectLst/>
                <a:latin typeface="quote-cjk-patch"/>
              </a:rPr>
              <a:t>«</a:t>
            </a:r>
            <a:r>
              <a:rPr lang="ru-RU" sz="1600" dirty="0"/>
              <a:t>Информационная система расписания приёма пациентов» для предметной области здравоохранение / медицинские услуги.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600" dirty="0"/>
              <a:t>Перед началом практики: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Принял участие в организационном собрании по практике.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Ознакомился 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ru-RU" sz="1600" dirty="0"/>
              <a:t>Уточнил(а)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Требования к внешнему виду: медицинский халат, сменная обувь, чистота.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Круг обязанностей: разработка на C#, проектирование интерфейса, написание кода, тестирование.</a:t>
            </a:r>
          </a:p>
          <a:p>
            <a:pPr marL="885066" lvl="1" indent="-363538">
              <a:lnSpc>
                <a:spcPct val="100000"/>
              </a:lnSpc>
              <a:spcAft>
                <a:spcPts val="1200"/>
              </a:spcAft>
            </a:pPr>
            <a:r>
              <a:rPr lang="ru-RU" sz="1600" dirty="0"/>
              <a:t>Доступ к данным: ПК с Visual Studio, локальная сеть больницы, журналы регистрации пациентов</a:t>
            </a:r>
            <a:endParaRPr lang="ru-RU" sz="1600" dirty="0">
              <a:solidFill>
                <a:srgbClr val="FF0000"/>
              </a:solidFill>
            </a:endParaRP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xmlns="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</p:spTree>
    <p:extLst>
      <p:ext uri="{BB962C8B-B14F-4D97-AF65-F5344CB8AC3E}">
        <p14:creationId xmlns:p14="http://schemas.microsoft.com/office/powerpoint/2010/main" val="111581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Техника безопасности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237832"/>
            <a:ext cx="9824904" cy="334915"/>
          </a:xfrm>
        </p:spPr>
        <p:txBody>
          <a:bodyPr>
            <a:noAutofit/>
          </a:bodyPr>
          <a:lstStyle/>
          <a:p>
            <a:r>
              <a:rPr lang="ru-RU" sz="1700" b="0" dirty="0">
                <a:solidFill>
                  <a:srgbClr val="E60000"/>
                </a:solidFill>
              </a:rPr>
              <a:t>Инструкция по охране труда. Инструкции по технике безопасности и </a:t>
            </a:r>
            <a:r>
              <a:rPr lang="ru-RU" sz="1700" b="0" dirty="0" err="1">
                <a:solidFill>
                  <a:srgbClr val="E60000"/>
                </a:solidFill>
              </a:rPr>
              <a:t>пожароопасности</a:t>
            </a:r>
            <a:r>
              <a:rPr lang="ru-RU" sz="1700" b="0" dirty="0">
                <a:solidFill>
                  <a:srgbClr val="E60000"/>
                </a:solidFill>
              </a:rPr>
              <a:t>. Меры по обеспечению безопасности при работе с компьютерной техникой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626620" y="1749888"/>
            <a:ext cx="6066779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Техника безопасности.</a:t>
            </a:r>
          </a:p>
          <a:p>
            <a:r>
              <a:rPr lang="ru-RU" b="1" dirty="0"/>
              <a:t>Инструкция по охране труда (СанПиН 1.2.3685-21)</a:t>
            </a:r>
            <a:endParaRPr lang="ru-RU" dirty="0"/>
          </a:p>
          <a:p>
            <a:r>
              <a:rPr lang="ru-RU" dirty="0"/>
              <a:t>Площадь рабочего места – не менее 4,5 м²</a:t>
            </a:r>
          </a:p>
          <a:p>
            <a:r>
              <a:rPr lang="ru-RU" dirty="0"/>
              <a:t>Расстояние до экрана – 60–70 см, освещённость 300–500 люкс</a:t>
            </a:r>
          </a:p>
          <a:p>
            <a:r>
              <a:rPr lang="ru-RU" dirty="0"/>
              <a:t>Режим труда: 2 часа работы → 15 минут перерыва</a:t>
            </a:r>
          </a:p>
          <a:p>
            <a:r>
              <a:rPr lang="ru-RU" dirty="0"/>
              <a:t>Запрещено вскрывать ПК и отключать заземление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28" y="2052439"/>
            <a:ext cx="1902117" cy="190211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-51676" y="4356695"/>
            <a:ext cx="4678297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Меры безопасности при работе с ПК.</a:t>
            </a:r>
            <a:endParaRPr lang="ru-RU" dirty="0"/>
          </a:p>
          <a:p>
            <a:r>
              <a:rPr lang="ru-RU" dirty="0"/>
              <a:t>Электропитание через ИБП, заземление</a:t>
            </a:r>
          </a:p>
          <a:p>
            <a:r>
              <a:rPr lang="ru-RU" dirty="0"/>
              <a:t>Ежедневная влажная уборка, проветривание</a:t>
            </a:r>
          </a:p>
          <a:p>
            <a:r>
              <a:rPr lang="ru-RU" dirty="0"/>
              <a:t>Вводный инструктаж перед началом практики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4626620" y="4349129"/>
            <a:ext cx="53467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dirty="0"/>
              <a:t>Пожарная безопасность (ИПБ-022).</a:t>
            </a:r>
            <a:endParaRPr lang="ru-RU" dirty="0"/>
          </a:p>
          <a:p>
            <a:r>
              <a:rPr lang="ru-RU" dirty="0"/>
              <a:t>Не оставлять оборудование без присмотра</a:t>
            </a:r>
          </a:p>
          <a:p>
            <a:r>
              <a:rPr lang="ru-RU" dirty="0"/>
              <a:t>Не загромождать проходы, использовать исправные розетки</a:t>
            </a:r>
          </a:p>
          <a:p>
            <a:r>
              <a:rPr lang="ru-RU" dirty="0"/>
              <a:t>При пожаре: отключить питание, звонить 101, тушить углекислотным огнетушителем</a:t>
            </a:r>
          </a:p>
        </p:txBody>
      </p:sp>
      <p:pic>
        <p:nvPicPr>
          <p:cNvPr id="1026" name="Picture 2" descr="https://avatars.mds.yandex.net/i?id=b37aadbd7af98a4467bfcbee70052066f0d8a033-4250597-images-thumbs&amp;n=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59807"/>
            <a:ext cx="4631999" cy="259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4592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Анализ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Краткая технико-экономическая характеристика объекта практики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3746475" y="2124447"/>
            <a:ext cx="69469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ГБУ РД «Кизлярская ЦГБ»</a:t>
            </a:r>
            <a:r>
              <a:rPr lang="ru-RU" dirty="0"/>
              <a:t> – </a:t>
            </a:r>
            <a:r>
              <a:rPr lang="ru-RU" dirty="0" smtClean="0"/>
              <a:t>лечебная больница в </a:t>
            </a:r>
            <a:r>
              <a:rPr lang="ru-RU" dirty="0"/>
              <a:t>г. Кизляр.</a:t>
            </a:r>
            <a:br>
              <a:rPr lang="ru-RU" dirty="0"/>
            </a:br>
            <a:r>
              <a:rPr lang="ru-RU" dirty="0"/>
              <a:t>Практика проходила в регистратуре и приёмном отделении.</a:t>
            </a:r>
            <a:br>
              <a:rPr lang="ru-RU" dirty="0"/>
            </a:br>
            <a:r>
              <a:rPr lang="ru-RU" dirty="0"/>
              <a:t>Проблема до разработки: учёт пациентов и запись к врачам велась в бумажных журналах и Excel(Ошибкам в расписании, двойной записи пациентов.       Разработанный модуль на C# автоматизирует процесс записи пациентов на приём.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64407"/>
            <a:ext cx="3735941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8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Анализ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технических средств подразделения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42644" y="1793645"/>
            <a:ext cx="59046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Рабочее место оснащено ИБП для защиты от скачков напряжения.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Локальный доступ к серверу больницы.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Вся техника прошла проверку заземления и электробезопасности.</a:t>
            </a:r>
          </a:p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537872"/>
              </p:ext>
            </p:extLst>
          </p:nvPr>
        </p:nvGraphicFramePr>
        <p:xfrm>
          <a:off x="-1082" y="2347643"/>
          <a:ext cx="4051638" cy="3429000"/>
        </p:xfrm>
        <a:graphic>
          <a:graphicData uri="http://schemas.openxmlformats.org/drawingml/2006/table">
            <a:tbl>
              <a:tblPr/>
              <a:tblGrid>
                <a:gridCol w="202581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025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quote-cjk-patch"/>
                        </a:rPr>
                        <a:t>Наименование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quote-cjk-patch"/>
                        </a:rPr>
                        <a:t>Характеристики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Рабочая станция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it-IT" b="0">
                          <a:effectLst/>
                          <a:latin typeface="quote-cjk-patch"/>
                        </a:rPr>
                        <a:t>Intel Core i5, 8 ГБ ОЗУ, SSD 256 ГБ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ОС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quote-cjk-patch"/>
                        </a:rPr>
                        <a:t>Windows 10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/11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Принтер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HP LaserJet Pro M404dn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quote-cjk-patch"/>
                        </a:rPr>
                        <a:t>Сканер штрих-кодов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quote-cjk-patch"/>
                        </a:rPr>
                        <a:t>Honeywell Voyager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Сетевое оборудование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quote-cjk-patch"/>
                        </a:rPr>
                        <a:t>Коммутатор D-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Link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, </a:t>
                      </a:r>
                      <a:r>
                        <a:rPr lang="ru-RU" b="0" dirty="0" err="1">
                          <a:effectLst/>
                          <a:latin typeface="quote-cjk-patch"/>
                        </a:rPr>
                        <a:t>Ethernet</a:t>
                      </a:r>
                      <a:r>
                        <a:rPr lang="ru-RU" b="0" dirty="0">
                          <a:effectLst/>
                          <a:latin typeface="quote-cjk-patch"/>
                        </a:rPr>
                        <a:t> 1 Гбит/с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-1082" y="1904259"/>
            <a:ext cx="4051638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Состав технических средств</a:t>
            </a:r>
          </a:p>
        </p:txBody>
      </p:sp>
    </p:spTree>
    <p:extLst>
      <p:ext uri="{BB962C8B-B14F-4D97-AF65-F5344CB8AC3E}">
        <p14:creationId xmlns:p14="http://schemas.microsoft.com/office/powerpoint/2010/main" val="138534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Анализ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13717" y="1303113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Состав программного обеспечения и тематика решаемых задач структурным подразделением</a:t>
            </a:r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389064"/>
              </p:ext>
            </p:extLst>
          </p:nvPr>
        </p:nvGraphicFramePr>
        <p:xfrm>
          <a:off x="-5215" y="2675907"/>
          <a:ext cx="4847860" cy="3886200"/>
        </p:xfrm>
        <a:graphic>
          <a:graphicData uri="http://schemas.openxmlformats.org/drawingml/2006/table">
            <a:tbl>
              <a:tblPr/>
              <a:tblGrid>
                <a:gridCol w="24239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42393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b="0" dirty="0">
                          <a:effectLst/>
                          <a:latin typeface="+mn-lt"/>
                        </a:rPr>
                        <a:t>Наименование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b="0">
                          <a:effectLst/>
                          <a:latin typeface="+mn-lt"/>
                        </a:rPr>
                        <a:t>Назначение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0721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+mn-lt"/>
                        </a:rPr>
                        <a:t>Windows 10</a:t>
                      </a:r>
                      <a:r>
                        <a:rPr lang="ru-RU" b="0" dirty="0">
                          <a:effectLst/>
                          <a:latin typeface="+mn-lt"/>
                        </a:rPr>
                        <a:t>/11</a:t>
                      </a:r>
                      <a:endParaRPr lang="en-US" b="0" dirty="0">
                        <a:effectLst/>
                        <a:latin typeface="+mn-lt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+mn-lt"/>
                        </a:rPr>
                        <a:t>Операционная система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33326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+mn-lt"/>
                        </a:rPr>
                        <a:t>Microsoft Office 365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+mn-lt"/>
                        </a:rPr>
                        <a:t>Ведение Excel-таблиц учёта, оформление документов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42023"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+mn-lt"/>
                        </a:rPr>
                        <a:t>1С:Предприятие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>
                          <a:effectLst/>
                          <a:latin typeface="+mn-lt"/>
                        </a:rPr>
                        <a:t>Бухгалтерский и складской учёт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42023">
                <a:tc>
                  <a:txBody>
                    <a:bodyPr/>
                    <a:lstStyle/>
                    <a:p>
                      <a:r>
                        <a:rPr lang="en-US" b="0">
                          <a:effectLst/>
                          <a:latin typeface="+mn-lt"/>
                        </a:rPr>
                        <a:t>PostgreSQL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+mn-lt"/>
                        </a:rPr>
                        <a:t>База данных готовой продукции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33326">
                <a:tc>
                  <a:txBody>
                    <a:bodyPr/>
                    <a:lstStyle/>
                    <a:p>
                      <a:r>
                        <a:rPr lang="en-US" b="0" dirty="0">
                          <a:effectLst/>
                          <a:latin typeface="+mn-lt"/>
                        </a:rPr>
                        <a:t>Visual Studio 2022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b="0" dirty="0">
                          <a:effectLst/>
                          <a:latin typeface="+mn-lt"/>
                        </a:rPr>
                        <a:t>Среда разработки (использовалась для создания модуля)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6" name="Rectangle 2"/>
          <p:cNvSpPr>
            <a:spLocks noChangeArrowheads="1"/>
          </p:cNvSpPr>
          <p:nvPr/>
        </p:nvSpPr>
        <p:spPr bwMode="auto">
          <a:xfrm>
            <a:off x="5850756" y="3149478"/>
            <a:ext cx="4842644" cy="13817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5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</a:rPr>
              <a:t>Основные задачи подразделения (отдел учёта деталей):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F1115"/>
                </a:solidFill>
                <a:cs typeface="Times New Roman" panose="02020603050405020304" pitchFamily="18" charset="0"/>
              </a:rPr>
              <a:t>Запись пациентов на приём к врачам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F1115"/>
                </a:solidFill>
                <a:cs typeface="Times New Roman" panose="02020603050405020304" pitchFamily="18" charset="0"/>
              </a:rPr>
              <a:t>Регистрация времени и даты посещения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F1115"/>
                </a:solidFill>
                <a:cs typeface="Times New Roman" panose="02020603050405020304" pitchFamily="18" charset="0"/>
              </a:rPr>
              <a:t>Ведение списка пациентов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F1115"/>
                </a:solidFill>
                <a:cs typeface="Times New Roman" panose="02020603050405020304" pitchFamily="18" charset="0"/>
              </a:rPr>
              <a:t>Просмотр расписания врачей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0F1115"/>
                </a:solidFill>
                <a:cs typeface="Times New Roman" panose="02020603050405020304" pitchFamily="18" charset="0"/>
              </a:rPr>
              <a:t>Отслеживание завершённых приёмов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-51676" y="1757224"/>
            <a:ext cx="79906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quote-cjk-patch"/>
              </a:rPr>
              <a:t>Состав программного обеспечения и тематика решаемых задач структурным подразделением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9413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Анализ предметной области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Анализ требований к разрабатываемому программному модулю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458268" y="2268463"/>
            <a:ext cx="8037909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Сбор требований:</a:t>
            </a:r>
            <a:r>
              <a:rPr lang="ru-RU" dirty="0"/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опрос сотрудников регистратуры, анализ бумажных журналов записи пациентов.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Документирование:</a:t>
            </a:r>
            <a:r>
              <a:rPr lang="ru-RU" dirty="0"/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таблица с функциональными и нефункциональными требованиями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Оценка:</a:t>
            </a:r>
            <a:r>
              <a:rPr lang="ru-RU" dirty="0"/>
              <a:t> 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ru-RU" dirty="0"/>
              <a:t>высокий приоритет – сохранение данных и фильтрация по дате; средний – удобный интерфейс.</a:t>
            </a:r>
          </a:p>
          <a:p>
            <a:pPr algn="ctr"/>
            <a:r>
              <a:rPr lang="ru-RU" dirty="0"/>
              <a:t/>
            </a:r>
            <a:br>
              <a:rPr lang="ru-RU" dirty="0"/>
            </a:br>
            <a:r>
              <a:rPr lang="ru-RU" b="1" dirty="0"/>
              <a:t>Результат:</a:t>
            </a:r>
            <a:r>
              <a:rPr lang="ru-RU" dirty="0"/>
              <a:t> требования реализованы в модуле на C#.</a:t>
            </a:r>
            <a:endParaRPr lang="ru-RU" b="1" i="1" dirty="0">
              <a:solidFill>
                <a:schemeClr val="accent6">
                  <a:lumMod val="75000"/>
                </a:schemeClr>
              </a:solidFill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6445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Разработка спецификаций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функциональной спецификации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692399"/>
            <a:ext cx="1071178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1115"/>
                </a:solidFill>
              </a:rPr>
              <a:t>Функциональные требования</a:t>
            </a:r>
          </a:p>
          <a:p>
            <a:r>
              <a:rPr lang="ru-RU" sz="1600" dirty="0">
                <a:solidFill>
                  <a:srgbClr val="0F1115"/>
                </a:solidFill>
              </a:rPr>
              <a:t>Модуль </a:t>
            </a:r>
            <a:r>
              <a:rPr lang="ru-RU" sz="1600" dirty="0" smtClean="0">
                <a:solidFill>
                  <a:srgbClr val="0F1115"/>
                </a:solidFill>
              </a:rPr>
              <a:t>«</a:t>
            </a:r>
            <a:r>
              <a:rPr lang="ru-RU" sz="1600" dirty="0" smtClean="0">
                <a:solidFill>
                  <a:srgbClr val="0F1115"/>
                </a:solidFill>
              </a:rPr>
              <a:t>Расписание приема пациентов</a:t>
            </a:r>
            <a:r>
              <a:rPr lang="ru-RU" sz="1600" dirty="0" smtClean="0">
                <a:solidFill>
                  <a:srgbClr val="0F1115"/>
                </a:solidFill>
              </a:rPr>
              <a:t>» </a:t>
            </a:r>
            <a:r>
              <a:rPr lang="ru-RU" sz="1600" dirty="0">
                <a:solidFill>
                  <a:srgbClr val="0F1115"/>
                </a:solidFill>
              </a:rPr>
              <a:t>выполняет следующие функции:</a:t>
            </a:r>
          </a:p>
          <a:p>
            <a:r>
              <a:rPr lang="ru-RU" sz="1600" b="1" dirty="0" smtClean="0"/>
              <a:t>1. Просмотр </a:t>
            </a:r>
            <a:r>
              <a:rPr lang="ru-RU" sz="1600" b="1" dirty="0"/>
              <a:t>расписания</a:t>
            </a:r>
            <a:r>
              <a:rPr lang="ru-RU" sz="1600" dirty="0"/>
              <a:t> – отображение всех записей в таблице с возможностью сортировки по столбцам</a:t>
            </a:r>
          </a:p>
          <a:p>
            <a:r>
              <a:rPr lang="ru-RU" sz="1600" b="1" dirty="0" smtClean="0"/>
              <a:t>2. Добавление </a:t>
            </a:r>
            <a:r>
              <a:rPr lang="ru-RU" sz="1600" b="1" dirty="0"/>
              <a:t>записи</a:t>
            </a:r>
            <a:r>
              <a:rPr lang="ru-RU" sz="1600" dirty="0"/>
              <a:t> – открытие формы с полями: врач, пациент, дата, время, жалобы</a:t>
            </a:r>
          </a:p>
          <a:p>
            <a:r>
              <a:rPr lang="ru-RU" sz="1600" b="1" dirty="0" smtClean="0"/>
              <a:t>3. Редактирование </a:t>
            </a:r>
            <a:r>
              <a:rPr lang="ru-RU" sz="1600" b="1" dirty="0"/>
              <a:t>записи</a:t>
            </a:r>
            <a:r>
              <a:rPr lang="ru-RU" sz="1600" dirty="0"/>
              <a:t> – выбор строки → изменение данных → сохранение</a:t>
            </a:r>
          </a:p>
          <a:p>
            <a:r>
              <a:rPr lang="ru-RU" sz="1600" b="1" dirty="0" smtClean="0"/>
              <a:t>4. Удаление </a:t>
            </a:r>
            <a:r>
              <a:rPr lang="ru-RU" sz="1600" b="1" dirty="0"/>
              <a:t>записи</a:t>
            </a:r>
            <a:r>
              <a:rPr lang="ru-RU" sz="1600" dirty="0"/>
              <a:t> – подтверждение удаления → удаление записи из списка и из файла JSON</a:t>
            </a:r>
          </a:p>
          <a:p>
            <a:r>
              <a:rPr lang="ru-RU" sz="1600" b="1" dirty="0" smtClean="0"/>
              <a:t>5. Фильтрация </a:t>
            </a:r>
            <a:r>
              <a:rPr lang="ru-RU" sz="1600" b="1" dirty="0"/>
              <a:t>по дате</a:t>
            </a:r>
            <a:r>
              <a:rPr lang="ru-RU" sz="1600" dirty="0"/>
              <a:t> – выбор даты → динамическое обновление таблицы</a:t>
            </a:r>
          </a:p>
          <a:p>
            <a:r>
              <a:rPr lang="ru-RU" sz="1600" b="1" dirty="0" smtClean="0"/>
              <a:t>6. Фильтрация </a:t>
            </a:r>
            <a:r>
              <a:rPr lang="ru-RU" sz="1600" b="1" dirty="0"/>
              <a:t>по врачу</a:t>
            </a:r>
            <a:r>
              <a:rPr lang="ru-RU" sz="1600" dirty="0"/>
              <a:t> – выбор врача из списка → отображение только его записей</a:t>
            </a:r>
          </a:p>
          <a:p>
            <a:r>
              <a:rPr lang="ru-RU" sz="1600" b="1" dirty="0" smtClean="0"/>
              <a:t>7. Статус </a:t>
            </a:r>
            <a:r>
              <a:rPr lang="ru-RU" sz="1600" b="1" dirty="0"/>
              <a:t>приёма</a:t>
            </a:r>
            <a:r>
              <a:rPr lang="ru-RU" sz="1600" dirty="0"/>
              <a:t> – отметка «Приём завершён» (</a:t>
            </a:r>
            <a:r>
              <a:rPr lang="ru-RU" sz="1600" dirty="0" err="1"/>
              <a:t>чекбокс</a:t>
            </a:r>
            <a:r>
              <a:rPr lang="ru-RU" sz="1600" dirty="0"/>
              <a:t>)</a:t>
            </a:r>
          </a:p>
          <a:p>
            <a:r>
              <a:rPr lang="ru-RU" sz="1600" b="1" dirty="0" smtClean="0"/>
              <a:t>8. </a:t>
            </a:r>
            <a:r>
              <a:rPr lang="ru-RU" sz="1600" b="1" dirty="0" err="1" smtClean="0"/>
              <a:t>Автосохранение</a:t>
            </a:r>
            <a:r>
              <a:rPr lang="ru-RU" sz="1600" dirty="0"/>
              <a:t> – все изменения мгновенно сохраняются в JSON</a:t>
            </a:r>
          </a:p>
          <a:p>
            <a:r>
              <a:rPr lang="ru-RU" sz="1600" dirty="0"/>
              <a:t/>
            </a:r>
            <a:br>
              <a:rPr lang="ru-RU" sz="1600" dirty="0"/>
            </a:br>
            <a:endParaRPr lang="ru-RU" sz="1600" b="0" i="0" dirty="0">
              <a:solidFill>
                <a:srgbClr val="0F1115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015870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Разработка спецификаций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600" b="0" dirty="0"/>
              <a:t>Описание синтаксической спецификации входа модуля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366164" y="4356695"/>
            <a:ext cx="770485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9418814"/>
              </p:ext>
            </p:extLst>
          </p:nvPr>
        </p:nvGraphicFramePr>
        <p:xfrm>
          <a:off x="4357960" y="1765966"/>
          <a:ext cx="6335440" cy="4933503"/>
        </p:xfrm>
        <a:graphic>
          <a:graphicData uri="http://schemas.openxmlformats.org/drawingml/2006/table">
            <a:tbl>
              <a:tblPr/>
              <a:tblGrid>
                <a:gridCol w="461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1787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5589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03752">
                <a:tc>
                  <a:txBody>
                    <a:bodyPr/>
                    <a:lstStyle/>
                    <a:p>
                      <a:pPr algn="l"/>
                      <a:r>
                        <a:rPr lang="ru-RU" sz="700" b="0" dirty="0">
                          <a:effectLst/>
                          <a:latin typeface="quote-cjk-patch"/>
                        </a:rPr>
                        <a:t>Шаг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 dirty="0">
                          <a:effectLst/>
                          <a:latin typeface="quote-cjk-patch"/>
                        </a:rPr>
                        <a:t>Действие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700" b="0"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1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Нажать «Добавить»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Открывается форма новой записи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quote-cjk-patch"/>
                        </a:rPr>
                        <a:t/>
                      </a:r>
                      <a:br>
                        <a:rPr lang="ru-RU" sz="800" b="0" dirty="0">
                          <a:effectLst/>
                          <a:latin typeface="quote-cjk-patch"/>
                        </a:rPr>
                      </a:br>
                      <a:r>
                        <a:rPr lang="ru-RU" sz="800" b="0" dirty="0">
                          <a:effectLst/>
                          <a:latin typeface="quote-cjk-patch"/>
                        </a:rPr>
                        <a:t>Выбрать врача и пациента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Поля заполнены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3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quote-cjk-patch"/>
                        </a:rPr>
                        <a:t/>
                      </a:r>
                      <a:br>
                        <a:rPr lang="ru-RU" sz="800" b="0" dirty="0">
                          <a:effectLst/>
                          <a:latin typeface="quote-cjk-patch"/>
                        </a:rPr>
                      </a:br>
                      <a:r>
                        <a:rPr lang="ru-RU" sz="800" b="0" dirty="0">
                          <a:effectLst/>
                          <a:latin typeface="quote-cjk-patch"/>
                        </a:rPr>
                        <a:t>Выбрать дату и время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Дата и время выбраны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8301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quote-cjk-patch"/>
                        </a:rPr>
                        <a:t/>
                      </a:r>
                      <a:br>
                        <a:rPr lang="ru-RU" sz="800" b="0" dirty="0">
                          <a:effectLst/>
                          <a:latin typeface="quote-cjk-patch"/>
                        </a:rPr>
                      </a:br>
                      <a:r>
                        <a:rPr lang="ru-RU" sz="800" b="0" dirty="0">
                          <a:effectLst/>
                          <a:latin typeface="quote-cjk-patch"/>
                        </a:rPr>
                        <a:t>Заполнить жалобы (опционально)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Текст введён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Нажать «Сохранить»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Запись появляется в таблице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14889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6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quote-cjk-patch"/>
                        </a:rPr>
                        <a:t/>
                      </a:r>
                      <a:br>
                        <a:rPr lang="ru-RU" sz="800" b="0" dirty="0">
                          <a:effectLst/>
                          <a:latin typeface="quote-cjk-patch"/>
                        </a:rPr>
                      </a:br>
                      <a:r>
                        <a:rPr lang="ru-RU" sz="800" b="0" dirty="0">
                          <a:effectLst/>
                          <a:latin typeface="quote-cjk-patch"/>
                        </a:rPr>
                        <a:t>Выбрать другую дату в фильтре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Таблица обновляется по дате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7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Выбрать другого врача в фильтре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Таблица обновляется по врачу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Выбрать запись → нажать «Изменить» → изменить → «Сохранить»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dirty="0">
                          <a:effectLst/>
                          <a:latin typeface="quote-cjk-patch"/>
                        </a:rPr>
                        <a:t/>
                      </a:r>
                      <a:br>
                        <a:rPr lang="ru-RU" sz="800" b="0" dirty="0">
                          <a:effectLst/>
                          <a:latin typeface="quote-cjk-patch"/>
                        </a:rPr>
                      </a:br>
                      <a:r>
                        <a:rPr lang="ru-RU" sz="800" b="0" dirty="0">
                          <a:effectLst/>
                          <a:latin typeface="quote-cjk-patch"/>
                        </a:rPr>
                        <a:t>Данные обновлены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537163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9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Выбрать запись → нажать «Удалить» → подтвердить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Запись удалена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426026">
                <a:tc>
                  <a:txBody>
                    <a:bodyPr/>
                    <a:lstStyle/>
                    <a:p>
                      <a:r>
                        <a:rPr lang="ru-RU" sz="700" b="0">
                          <a:effectLst/>
                          <a:latin typeface="quote-cjk-patch"/>
                        </a:rPr>
                        <a:t>10</a:t>
                      </a:r>
                    </a:p>
                  </a:txBody>
                  <a:tcPr marL="44455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Нажать «Сохранить» без выбора врача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Сообщение об ошибке</a:t>
                      </a:r>
                      <a:endParaRPr lang="ru-RU" sz="800" b="0" dirty="0">
                        <a:effectLst/>
                        <a:latin typeface="quote-cjk-patch"/>
                      </a:endParaRPr>
                    </a:p>
                  </a:txBody>
                  <a:tcPr marL="74092" marR="74092" marT="46307" marB="4630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60AEB013-3C3A-4247-9896-C8B45443D7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9138"/>
            <a:ext cx="4357960" cy="47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507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Разработка спецификаций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r>
              <a:rPr lang="ru-RU" sz="1600" b="0" dirty="0"/>
              <a:t>Описание структуры данных модуля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410596" y="4068663"/>
            <a:ext cx="53285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Структура данных описана в классах 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Patient, Doctor, Appointment</a:t>
            </a:r>
            <a:r>
              <a:rPr lang="ru-RU" i="1" dirty="0"/>
              <a:t>. Хранение – JSON</a:t>
            </a:r>
            <a:endParaRPr lang="ru-RU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9E242BC2-280D-403E-BB86-6AD78F6A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3157"/>
            <a:ext cx="4116512" cy="221550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2A09BFFC-995E-4481-AD05-C4F0831396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0596" y="1853157"/>
            <a:ext cx="5976664" cy="22155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5AB59243-F4AA-4E81-81E4-930D5423B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68663"/>
            <a:ext cx="4116512" cy="244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96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Выбор языка программирования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451428" y="1908423"/>
            <a:ext cx="10241972" cy="1061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Выбран </a:t>
            </a:r>
            <a:r>
              <a:rPr lang="en-US" b="1" dirty="0"/>
              <a:t>C# (.NET Framework 4.7.2) </a:t>
            </a:r>
            <a:r>
              <a:rPr lang="ru-RU" b="1" dirty="0"/>
              <a:t>в </a:t>
            </a:r>
            <a:r>
              <a:rPr lang="en-US" b="1" dirty="0"/>
              <a:t>Visual Studio 202</a:t>
            </a:r>
            <a:r>
              <a:rPr lang="ru-RU" b="1" dirty="0"/>
              <a:t>6.</a:t>
            </a:r>
            <a:r>
              <a:rPr lang="en-US" dirty="0"/>
              <a:t/>
            </a:r>
            <a:br>
              <a:rPr lang="en-US" dirty="0"/>
            </a:br>
            <a:r>
              <a:rPr lang="ru-RU" b="1" dirty="0"/>
              <a:t>Причины:</a:t>
            </a:r>
            <a:r>
              <a:rPr lang="ru-RU" dirty="0"/>
              <a:t> </a:t>
            </a:r>
            <a:r>
              <a:rPr lang="en-US" dirty="0"/>
              <a:t>Windows Forms, </a:t>
            </a:r>
            <a:r>
              <a:rPr lang="en-US" dirty="0" err="1"/>
              <a:t>Newtonsoft.Json</a:t>
            </a:r>
            <a:r>
              <a:rPr lang="en-US" dirty="0"/>
              <a:t>, </a:t>
            </a:r>
            <a:r>
              <a:rPr lang="ru-RU" dirty="0"/>
              <a:t>библиотека классов.</a:t>
            </a:r>
            <a:br>
              <a:rPr lang="ru-RU" dirty="0"/>
            </a:br>
            <a:r>
              <a:rPr lang="ru-RU" b="1" dirty="0"/>
              <a:t>Скриншоты:</a:t>
            </a:r>
            <a:r>
              <a:rPr lang="ru-RU" dirty="0"/>
              <a:t> Рисунок 8, Рисунок 6</a:t>
            </a:r>
            <a:r>
              <a:rPr lang="en-US" dirty="0"/>
              <a:t>, </a:t>
            </a:r>
            <a:r>
              <a:rPr lang="ru-RU" dirty="0"/>
              <a:t>Рисунок 1.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программного модуля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D086E47E-C2C2-4CDC-A5B5-EC1BDF83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085" y="2970252"/>
            <a:ext cx="4757316" cy="459101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27BD74D-DECD-42C6-8306-ACC8C6FBE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70251"/>
            <a:ext cx="3540544" cy="459100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3D93C984-FB9F-48B3-918A-D40E2A3BF2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0544" y="2970251"/>
            <a:ext cx="2395540" cy="459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05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Программирование модуля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программного модуля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451428" y="1908423"/>
            <a:ext cx="967961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-3278" y="1596908"/>
            <a:ext cx="10693400" cy="304698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1.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Создать решение с двумя проектами в VS 2026 (библиотека классов + приложение).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2.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Разработать классы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Pat</a:t>
            </a:r>
            <a:r>
              <a:rPr kumimoji="0" lang="en-US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ient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Doctor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 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Appointment</a:t>
            </a:r>
            <a:r>
              <a:rPr lang="en-US" altLang="ru-RU" sz="2400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2400" b="1" dirty="0">
                <a:solidFill>
                  <a:srgbClr val="0F1115"/>
                </a:solidFill>
                <a:latin typeface="quote-cjk-patch"/>
              </a:rPr>
              <a:t>3. </a:t>
            </a:r>
            <a:r>
              <a:rPr lang="ru-RU" sz="2400" dirty="0">
                <a:solidFill>
                  <a:srgbClr val="0F1115"/>
                </a:solidFill>
                <a:latin typeface="quote-cjk-patch"/>
              </a:rPr>
              <a:t>Разработать репозиторий</a:t>
            </a:r>
            <a:r>
              <a:rPr lang="en-US" sz="24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en-US" altLang="ru-RU" sz="2400" dirty="0" err="1">
                <a:solidFill>
                  <a:srgbClr val="0F1115"/>
                </a:solidFill>
                <a:latin typeface="quote-cjk-patch"/>
              </a:rPr>
              <a:t>AppointmentRepository</a:t>
            </a:r>
            <a:r>
              <a:rPr lang="en-US" altLang="ru-RU" sz="2400" dirty="0">
                <a:solidFill>
                  <a:srgbClr val="0F1115"/>
                </a:solidFill>
                <a:latin typeface="quote-cjk-patch"/>
              </a:rPr>
              <a:t> </a:t>
            </a:r>
            <a:r>
              <a:rPr lang="ru-RU" sz="2400" dirty="0">
                <a:solidFill>
                  <a:srgbClr val="0F1115"/>
                </a:solidFill>
                <a:latin typeface="quote-cjk-patch"/>
              </a:rPr>
              <a:t>с методами CRUD и </a:t>
            </a:r>
            <a:r>
              <a:rPr lang="ru-RU" sz="2400" dirty="0" err="1">
                <a:solidFill>
                  <a:srgbClr val="0F1115"/>
                </a:solidFill>
                <a:latin typeface="quote-cjk-patch"/>
              </a:rPr>
              <a:t>сериализацией</a:t>
            </a:r>
            <a:r>
              <a:rPr lang="ru-RU" sz="2400" dirty="0">
                <a:solidFill>
                  <a:srgbClr val="0F1115"/>
                </a:solidFill>
                <a:latin typeface="quote-cjk-patch"/>
              </a:rPr>
              <a:t> JSON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ru-RU" sz="2400" b="1" dirty="0">
                <a:solidFill>
                  <a:srgbClr val="0F1115"/>
                </a:solidFill>
                <a:latin typeface="quote-cjk-patch"/>
              </a:rPr>
              <a:t>4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Создать формы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MainForm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lang="en-US" altLang="ru-RU" sz="2400" dirty="0">
                <a:solidFill>
                  <a:srgbClr val="0F1115"/>
                </a:solidFill>
                <a:latin typeface="Menlo"/>
              </a:rPr>
              <a:t>Add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Edit</a:t>
            </a:r>
            <a:r>
              <a:rPr kumimoji="0" lang="en-US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Appointment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Form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ru-RU" sz="2400" b="1" dirty="0">
                <a:solidFill>
                  <a:srgbClr val="0F1115"/>
                </a:solidFill>
                <a:latin typeface="quote-cjk-patch"/>
              </a:rPr>
              <a:t>5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Реализовать CRUD, фильтрация по дате и врачу, статус приема.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lang="en-US" altLang="ru-RU" sz="2400" b="1" dirty="0">
                <a:solidFill>
                  <a:srgbClr val="0F1115"/>
                </a:solidFill>
                <a:latin typeface="quote-cjk-patch"/>
              </a:rPr>
              <a:t>6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Подключить 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Newtonsoft.Json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для работы с JSON.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97472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Компиляция модуля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программного модуля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1765450"/>
            <a:ext cx="10693400" cy="1889548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Компиляция модуля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 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Visual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Studio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2026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открыть решение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AircraftPartsSolution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 меню выбрать 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Build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→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Rebuild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Solution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(или нажать 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Ctrl+Shift+B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Дождаться завершения сборки. Убедиться, что в окне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«Вывод»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появилось сообщение:</a:t>
            </a:r>
            <a:b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</a:b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Сборка: 2 успешно, 0 с ошибками, 0 изменено, 0 пропущено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52291657-945F-45B8-AA2F-9C758ACA1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74" y="3736724"/>
            <a:ext cx="9091115" cy="188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1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82480" y="1348809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Отладка модуля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499826" y="269887"/>
            <a:ext cx="9687193" cy="997196"/>
          </a:xfrm>
        </p:spPr>
        <p:txBody>
          <a:bodyPr/>
          <a:lstStyle/>
          <a:p>
            <a:r>
              <a:rPr lang="ru-RU" sz="3600" dirty="0"/>
              <a:t>Разработка кода программного модуля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" y="2011670"/>
            <a:ext cx="10693399" cy="244354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Установить 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точку останова (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breakpoint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в коде, например, в методе 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BtnSave_Click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на строке проверки </a:t>
            </a:r>
            <a:r>
              <a:rPr lang="ru-RU" altLang="ru-RU" sz="1600" dirty="0">
                <a:solidFill>
                  <a:srgbClr val="0F1115"/>
                </a:solidFill>
                <a:latin typeface="quote-cjk-patch"/>
              </a:rPr>
              <a:t>данных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 отладку, нажав 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F5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</a:t>
            </a:r>
            <a:endParaRPr lang="ru-RU" altLang="ru-RU" sz="1600" dirty="0">
              <a:solidFill>
                <a:srgbClr val="0F1115"/>
              </a:solidFill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Выполнить действие, которое должно привести к срабатыванию точки останова (например, попробовать добавить новую </a:t>
            </a:r>
            <a:r>
              <a:rPr lang="ru-RU" altLang="ru-RU" sz="1600" dirty="0">
                <a:solidFill>
                  <a:srgbClr val="0F1115"/>
                </a:solidFill>
                <a:latin typeface="quote-cjk-patch"/>
              </a:rPr>
              <a:t>запись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Проверить значение переменных, наведя курсор мыши.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Используя клавиши 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F10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 и 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F11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, проследить выполнение кода.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Завершить отладку или продолжить выполнение.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0" y="4684002"/>
            <a:ext cx="87310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F1115"/>
                </a:solidFill>
                <a:latin typeface="quote-cjk-patch"/>
              </a:rPr>
              <a:t>Что проверялось в процессе отладки:</a:t>
            </a:r>
            <a:endParaRPr lang="ru-RU" sz="1600" dirty="0">
              <a:solidFill>
                <a:srgbClr val="0F1115"/>
              </a:solidFill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Корректность сохранении данных в репозиторий.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Правильность фильтрации по дате и врачу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Обновление таблицы после добавления/изменения/удаления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rgbClr val="0F1115"/>
                </a:solidFill>
                <a:latin typeface="quote-cjk-patch"/>
              </a:rPr>
              <a:t>Сообщения об ошибках при незаполненных полях</a:t>
            </a:r>
          </a:p>
        </p:txBody>
      </p:sp>
    </p:spTree>
    <p:extLst>
      <p:ext uri="{BB962C8B-B14F-4D97-AF65-F5344CB8AC3E}">
        <p14:creationId xmlns:p14="http://schemas.microsoft.com/office/powerpoint/2010/main" val="3849310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Разработка тестовых сценариев</a:t>
            </a:r>
            <a:endParaRPr lang="ru-RU" sz="1700" b="0" dirty="0">
              <a:solidFill>
                <a:srgbClr val="E60000"/>
              </a:solidFill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176392"/>
              </p:ext>
            </p:extLst>
          </p:nvPr>
        </p:nvGraphicFramePr>
        <p:xfrm>
          <a:off x="0" y="1836416"/>
          <a:ext cx="10693399" cy="4768490"/>
        </p:xfrm>
        <a:graphic>
          <a:graphicData uri="http://schemas.openxmlformats.org/drawingml/2006/table">
            <a:tbl>
              <a:tblPr/>
              <a:tblGrid>
                <a:gridCol w="100250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4544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8454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02793"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ID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Сценарий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Ожидаемый результат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2793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TC-1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Добавить новую запись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Запись появилась в таблице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2793">
                <a:tc>
                  <a:txBody>
                    <a:bodyPr/>
                    <a:lstStyle/>
                    <a:p>
                      <a:r>
                        <a:rPr lang="en-US" sz="14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TC-2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Редактировать запись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Данные изменились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1559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TC-3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Удалить запись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Запись исчезла из таблицы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14542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TC-4</a:t>
                      </a:r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endParaRPr lang="en-US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Выбрать другую дату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Расписание обновилось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314017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TC-5</a:t>
                      </a:r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ТС-6</a:t>
                      </a: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ТС-7</a:t>
                      </a: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endParaRPr lang="ru-RU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r>
                        <a:rPr lang="ru-RU" sz="14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ТС-8</a:t>
                      </a:r>
                      <a:endParaRPr lang="en-US" sz="14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Выбрать другого врача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Сохранить без выбора врача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Сохранить без выбора пациента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Отметить «Приём завершён»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Отображаются только его записи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Сообщение об ошибке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Сообщение об ошибке</a:t>
                      </a: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endParaRPr lang="ru-RU" sz="1400" b="0" kern="1200" dirty="0">
                        <a:solidFill>
                          <a:srgbClr val="E60000"/>
                        </a:solidFill>
                        <a:effectLst/>
                        <a:latin typeface="quote-cjk-patch"/>
                        <a:ea typeface="+mn-ea"/>
                        <a:cs typeface="+mn-cs"/>
                      </a:endParaRPr>
                    </a:p>
                    <a:p>
                      <a:r>
                        <a:rPr lang="ru-RU" sz="1400" b="0" kern="1200" dirty="0">
                          <a:solidFill>
                            <a:srgbClr val="E60000"/>
                          </a:solidFill>
                          <a:effectLst/>
                          <a:latin typeface="quote-cjk-patch"/>
                          <a:ea typeface="+mn-ea"/>
                          <a:cs typeface="+mn-cs"/>
                        </a:rPr>
                        <a:t>Статус изменился на «Выполнен»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8957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Модульное тестирование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124" y="1846905"/>
            <a:ext cx="10693276" cy="4659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12677" rIns="0" bIns="112677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Последовательность выполненных действий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Установить фреймворк 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NUnit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и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NUnit3TestAdapter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через </a:t>
            </a: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NuGet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Написать тестовый класс с методом, проверяющим метод репозитория:</a:t>
            </a:r>
            <a:endParaRPr kumimoji="0" lang="en-US" altLang="ru-RU" sz="18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[Test]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public void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GetByDate_ShouldReturnCorrectAppointments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    var repo = new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AppointmentRepository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("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test.json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    var result =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repo.GetByDate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DateTime.Today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    </a:t>
            </a:r>
            <a:r>
              <a:rPr kumimoji="0" lang="en-US" altLang="ru-RU" sz="1800" b="0" i="0" u="none" strike="noStrike" cap="none" normalizeH="0" baseline="0" dirty="0" err="1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Assert.IsNotNull</a:t>
            </a: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(result);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8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Menlo"/>
              </a:rPr>
              <a:t>}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Запустить тесты через меню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Тест → Запустить все тесты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Проверить результат в </a:t>
            </a: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Обозревателе тестов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: все тесты должны быть зелёными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834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044327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Тестирование производительности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-26950" y="1498979"/>
            <a:ext cx="10720350" cy="33220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8566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Последовательность выполненных действий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ru-RU" altLang="ru-RU" sz="1400" dirty="0">
                <a:solidFill>
                  <a:srgbClr val="0F1115"/>
                </a:solidFill>
                <a:latin typeface="quote-cjk-patch"/>
              </a:rPr>
              <a:t>Добавить в код метода </a:t>
            </a:r>
            <a:r>
              <a:rPr lang="en-US" altLang="ru-RU" sz="1400" dirty="0" err="1">
                <a:solidFill>
                  <a:srgbClr val="0F1115"/>
                </a:solidFill>
                <a:latin typeface="quote-cjk-patch"/>
              </a:rPr>
              <a:t>LoadAppinyments</a:t>
            </a:r>
            <a:r>
              <a:rPr lang="en-US" altLang="ru-RU" sz="1400" dirty="0">
                <a:solidFill>
                  <a:srgbClr val="0F1115"/>
                </a:solidFill>
                <a:latin typeface="quote-cjk-patch"/>
              </a:rPr>
              <a:t> () </a:t>
            </a:r>
            <a:r>
              <a:rPr lang="ru-RU" altLang="ru-RU" sz="1400" dirty="0">
                <a:solidFill>
                  <a:srgbClr val="0F1115"/>
                </a:solidFill>
                <a:latin typeface="quote-cjk-patch"/>
              </a:rPr>
              <a:t>замер времени с помощью класса </a:t>
            </a:r>
            <a:r>
              <a:rPr lang="en-US" altLang="ru-RU" sz="1400" dirty="0">
                <a:solidFill>
                  <a:srgbClr val="0F1115"/>
                </a:solidFill>
                <a:latin typeface="quote-cjk-patch"/>
              </a:rPr>
              <a:t>Stopwatch: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Stopwatch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 = </a:t>
            </a: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Stopwatch.StartNew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LoadAppointments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sw.Stop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Debug.WriteLine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($"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Загрузка расписания: {</a:t>
            </a:r>
            <a:r>
              <a:rPr kumimoji="0" lang="en-US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sw.Elapsed.TotalSeconds:F2} 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с");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Menlo"/>
            </a:endParaRPr>
          </a:p>
          <a:p>
            <a:pPr algn="l">
              <a:buFont typeface="+mj-lt"/>
              <a:buAutoNum type="arabicPeriod" startAt="2"/>
            </a:pPr>
            <a:r>
              <a:rPr lang="ru-RU" sz="1400" dirty="0">
                <a:solidFill>
                  <a:srgbClr val="0F1115"/>
                </a:solidFill>
                <a:latin typeface="quote-cjk-patch"/>
              </a:rPr>
              <a:t>Создать тестовые данные (100 записей о приёме пациентов)</a:t>
            </a:r>
          </a:p>
          <a:p>
            <a:pPr algn="l">
              <a:buFont typeface="+mj-lt"/>
              <a:buAutoNum type="arabicPeriod" startAt="2"/>
            </a:pPr>
            <a:r>
              <a:rPr lang="ru-RU" sz="1400" dirty="0">
                <a:solidFill>
                  <a:srgbClr val="0F1115"/>
                </a:solidFill>
                <a:latin typeface="quote-cjk-patch"/>
              </a:rPr>
              <a:t>Запустить приложение в режиме отладки (F5)</a:t>
            </a:r>
          </a:p>
          <a:p>
            <a:pPr algn="l">
              <a:buFont typeface="+mj-lt"/>
              <a:buAutoNum type="arabicPeriod" startAt="2"/>
            </a:pPr>
            <a:r>
              <a:rPr lang="ru-RU" sz="1400" dirty="0">
                <a:solidFill>
                  <a:srgbClr val="0F1115"/>
                </a:solidFill>
                <a:latin typeface="quote-cjk-patch"/>
              </a:rPr>
              <a:t>Зафиксировать результаты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Повторить замеры для операций: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Поиск по номеру среди 1000 записей.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Сохранение 1000 записей в JSON (вызов 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SaveData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Menlo"/>
              </a:rPr>
              <a:t>()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Зафиксировать результаты в таблице (см. </a:t>
            </a: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Таблица 5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 отчёта).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97123"/>
              </p:ext>
            </p:extLst>
          </p:nvPr>
        </p:nvGraphicFramePr>
        <p:xfrm>
          <a:off x="-45206" y="5182809"/>
          <a:ext cx="7173850" cy="1859280"/>
        </p:xfrm>
        <a:graphic>
          <a:graphicData uri="http://schemas.openxmlformats.org/drawingml/2006/table">
            <a:tbl>
              <a:tblPr/>
              <a:tblGrid>
                <a:gridCol w="35869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869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82379"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Операция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Время выполнения</a:t>
                      </a:r>
                    </a:p>
                  </a:txBody>
                  <a:tcPr marL="152400"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379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Загрузка 100 записей в таблицу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0,2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2379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Поиск/фильтрация по дате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0,1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58996"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Сохранение новой записи</a:t>
                      </a:r>
                    </a:p>
                    <a:p>
                      <a:endParaRPr lang="ru-RU" sz="12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Открытие формы редактирования</a:t>
                      </a:r>
                    </a:p>
                  </a:txBody>
                  <a:tcPr marR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0,1 с</a:t>
                      </a:r>
                    </a:p>
                    <a:p>
                      <a:endParaRPr lang="ru-RU" sz="1200" b="0" dirty="0">
                        <a:solidFill>
                          <a:srgbClr val="E60000"/>
                        </a:solidFill>
                        <a:effectLst/>
                        <a:latin typeface="quote-cjk-patch"/>
                      </a:endParaRPr>
                    </a:p>
                    <a:p>
                      <a:r>
                        <a:rPr lang="ru-RU" sz="1200" b="0" dirty="0">
                          <a:solidFill>
                            <a:srgbClr val="E60000"/>
                          </a:solidFill>
                          <a:effectLst/>
                          <a:latin typeface="quote-cjk-patch"/>
                        </a:rPr>
                        <a:t>0,1 с</a:t>
                      </a:r>
                    </a:p>
                  </a:txBody>
                  <a:tcPr marL="152400" marT="95250" marB="952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-26950" y="4877672"/>
            <a:ext cx="4797586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Таблица 5 – Результаты тестирования производительности</a:t>
            </a:r>
            <a:endParaRPr kumimoji="0" lang="ru-RU" altLang="ru-RU" sz="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1273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28" y="441062"/>
            <a:ext cx="9687193" cy="498598"/>
          </a:xfrm>
        </p:spPr>
        <p:txBody>
          <a:bodyPr/>
          <a:lstStyle/>
          <a:p>
            <a:r>
              <a:rPr lang="ru-RU" sz="3600" dirty="0"/>
              <a:t>Тестирование программного модуля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98744" y="1213775"/>
            <a:ext cx="9824904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/>
              <a:t>Загрузка программного модуля в </a:t>
            </a:r>
            <a:r>
              <a:rPr lang="ru-RU" sz="1700" b="0" dirty="0" err="1"/>
              <a:t>репозиторий</a:t>
            </a:r>
            <a:r>
              <a:rPr lang="ru-RU" sz="1700" b="0" dirty="0"/>
              <a:t> </a:t>
            </a:r>
            <a:r>
              <a:rPr lang="en-US" sz="1700" b="0" dirty="0">
                <a:solidFill>
                  <a:srgbClr val="E60000"/>
                </a:solidFill>
              </a:rPr>
              <a:t>GitHub</a:t>
            </a:r>
            <a:endParaRPr lang="ru-RU" sz="1700" b="0" dirty="0">
              <a:solidFill>
                <a:srgbClr val="E60000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2967" y="1980431"/>
            <a:ext cx="9616457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Создать удаленный </a:t>
            </a:r>
            <a:r>
              <a:rPr lang="ru-RU" sz="1900" dirty="0" err="1"/>
              <a:t>репозиторий</a:t>
            </a:r>
            <a:r>
              <a:rPr lang="ru-RU" sz="1900" dirty="0"/>
              <a:t> на </a:t>
            </a:r>
            <a:r>
              <a:rPr lang="en-US" sz="1900" dirty="0"/>
              <a:t>GitHub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Перейти в папку с проектами практики и инициализировать новый </a:t>
            </a:r>
            <a:r>
              <a:rPr lang="ru-RU" sz="1900" dirty="0" err="1"/>
              <a:t>репозиторий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проекты в индекс и осуществить первый коммит</a:t>
            </a:r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Добавить локальному репозиторию ссылку на удаленный репозиторий, после чего сделать команду </a:t>
            </a:r>
            <a:r>
              <a:rPr lang="ru-RU" sz="1900" dirty="0" err="1"/>
              <a:t>push</a:t>
            </a:r>
            <a:r>
              <a:rPr lang="ru-RU" sz="1900" dirty="0"/>
              <a:t> в удаленный репозиторий </a:t>
            </a:r>
            <a:r>
              <a:rPr lang="ru-RU" sz="1900" dirty="0" err="1"/>
              <a:t>git</a:t>
            </a:r>
            <a:r>
              <a:rPr lang="ru-RU" sz="1900" dirty="0"/>
              <a:t> </a:t>
            </a:r>
            <a:r>
              <a:rPr lang="ru-RU" sz="1900" dirty="0" err="1"/>
              <a:t>push</a:t>
            </a:r>
            <a:r>
              <a:rPr lang="ru-RU" sz="1900" dirty="0"/>
              <a:t> </a:t>
            </a:r>
            <a:r>
              <a:rPr lang="ru-RU" sz="1900" dirty="0" err="1"/>
              <a:t>origin</a:t>
            </a:r>
            <a:r>
              <a:rPr lang="ru-RU" sz="1900" dirty="0"/>
              <a:t> </a:t>
            </a:r>
            <a:r>
              <a:rPr lang="ru-RU" sz="1900" dirty="0" err="1"/>
              <a:t>master</a:t>
            </a:r>
            <a:r>
              <a:rPr lang="en-US" sz="1900" dirty="0"/>
              <a:t>(main)</a:t>
            </a:r>
            <a:r>
              <a:rPr lang="ru-RU" sz="1900" dirty="0"/>
              <a:t>, тем самым отправив локальную ветку </a:t>
            </a:r>
            <a:r>
              <a:rPr lang="ru-RU" sz="1900" dirty="0" err="1"/>
              <a:t>master</a:t>
            </a:r>
            <a:r>
              <a:rPr lang="ru-RU" sz="1900" dirty="0"/>
              <a:t> на сервер </a:t>
            </a:r>
            <a:r>
              <a:rPr lang="ru-RU" sz="1900" dirty="0" err="1"/>
              <a:t>origin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r>
              <a:rPr lang="ru-RU" sz="1900" dirty="0"/>
              <a:t>Продемонстрировать добавленные файлы на </a:t>
            </a:r>
            <a:r>
              <a:rPr lang="en-US" sz="1900" dirty="0"/>
              <a:t>GitHub</a:t>
            </a:r>
            <a:endParaRPr lang="ru-RU" sz="1900" dirty="0"/>
          </a:p>
          <a:p>
            <a:pPr marL="534988" lvl="0" indent="-534988" algn="just">
              <a:spcAft>
                <a:spcPts val="0"/>
              </a:spcAft>
              <a:buFont typeface="+mj-lt"/>
              <a:buAutoNum type="arabicPeriod"/>
            </a:pPr>
            <a:endParaRPr lang="ru-RU" sz="1900" dirty="0"/>
          </a:p>
        </p:txBody>
      </p:sp>
      <p:sp>
        <p:nvSpPr>
          <p:cNvPr id="3" name="TextBox 2"/>
          <p:cNvSpPr txBox="1"/>
          <p:nvPr/>
        </p:nvSpPr>
        <p:spPr>
          <a:xfrm>
            <a:off x="234131" y="6804967"/>
            <a:ext cx="95050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u="sng" dirty="0">
                <a:solidFill>
                  <a:srgbClr val="FF0000"/>
                </a:solidFill>
              </a:rPr>
              <a:t>Ссылка на </a:t>
            </a:r>
            <a:r>
              <a:rPr lang="ru-RU" b="1" i="1" u="sng" dirty="0" err="1">
                <a:solidFill>
                  <a:srgbClr val="FF0000"/>
                </a:solidFill>
              </a:rPr>
              <a:t>репозиторий</a:t>
            </a:r>
            <a:r>
              <a:rPr lang="en-US" b="1" i="1" u="sng" dirty="0">
                <a:solidFill>
                  <a:srgbClr val="FF0000"/>
                </a:solidFill>
              </a:rPr>
              <a:t>: </a:t>
            </a:r>
            <a:r>
              <a:rPr lang="en-US" b="1" i="1" u="sng" dirty="0">
                <a:solidFill>
                  <a:srgbClr val="0070C0"/>
                </a:solidFill>
              </a:rPr>
              <a:t>https://github.com/CHILL0000043/Proizvodstvenaya.git</a:t>
            </a:r>
            <a:endParaRPr lang="ru-RU" b="1" i="1" u="sng" dirty="0">
              <a:solidFill>
                <a:srgbClr val="0070C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67" y="4068663"/>
            <a:ext cx="760999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767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16825" y="1764408"/>
            <a:ext cx="1071022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+mj-lt"/>
              <a:buAutoNum type="arabicPeriod"/>
            </a:pPr>
            <a:r>
              <a:rPr lang="ru-RU" sz="2000" dirty="0"/>
              <a:t> Разработана полнофункциональная информационная система «Расписание приёма пациентов» на языке C# с использованием Windows </a:t>
            </a:r>
            <a:r>
              <a:rPr lang="ru-RU" sz="2000" dirty="0" err="1"/>
              <a:t>Forms</a:t>
            </a:r>
            <a:r>
              <a:rPr lang="ru-RU" sz="2000" dirty="0"/>
              <a:t>, библиотеки классов и JSON-хранилища. Система полностью соответствует требованиям ГБУ РД «Кизлярская ЦГБ».</a:t>
            </a:r>
          </a:p>
          <a:p>
            <a:pPr algn="l">
              <a:buFont typeface="+mj-lt"/>
              <a:buAutoNum type="arabicPeriod"/>
            </a:pPr>
            <a:r>
              <a:rPr lang="en-US" sz="2000" dirty="0"/>
              <a:t> </a:t>
            </a:r>
            <a:r>
              <a:rPr lang="ru-RU" sz="2000" dirty="0"/>
              <a:t>Автоматизированы основные бизнес-процессы регистратуры: добавление, редактирование, удаление записей, фильтрация по дате и врачу, отметка о завершении приёма.</a:t>
            </a:r>
          </a:p>
          <a:p>
            <a:pPr algn="l"/>
            <a:r>
              <a:rPr lang="en-US" sz="2000" dirty="0"/>
              <a:t>3. </a:t>
            </a:r>
            <a:r>
              <a:rPr lang="ru-RU" sz="2000" dirty="0"/>
              <a:t>Обеспечена надёжность хранения данных благодаря </a:t>
            </a:r>
            <a:r>
              <a:rPr lang="ru-RU" sz="2000" dirty="0" err="1"/>
              <a:t>сериализации</a:t>
            </a:r>
            <a:r>
              <a:rPr lang="ru-RU" sz="2000" dirty="0"/>
              <a:t> в JSON с </a:t>
            </a:r>
            <a:r>
              <a:rPr lang="ru-RU" sz="2000" dirty="0" err="1"/>
              <a:t>автосохранением</a:t>
            </a:r>
            <a:r>
              <a:rPr lang="ru-RU" sz="2000" dirty="0"/>
              <a:t> после каждого изменения, что исключает потерю данных.</a:t>
            </a:r>
          </a:p>
          <a:p>
            <a:pPr algn="l"/>
            <a:r>
              <a:rPr lang="en-US" sz="2000" dirty="0"/>
              <a:t>4. </a:t>
            </a:r>
            <a:r>
              <a:rPr lang="ru-RU" sz="2000" dirty="0"/>
              <a:t>Создан удобный русскоязычный интерфейс с интуитивно понятными формами, что снижает время работы сотрудников и вероятность ошибок при записи пациентов.</a:t>
            </a:r>
          </a:p>
          <a:p>
            <a:r>
              <a:rPr lang="en-US" sz="2000" dirty="0"/>
              <a:t>5. </a:t>
            </a:r>
            <a:r>
              <a:rPr lang="ru-RU" sz="2000" dirty="0"/>
              <a:t>Проведено полное тестирование (функциональное, модульное, производительности). Все тесты пройдены успешно, код загружен в репозиторий </a:t>
            </a:r>
            <a:r>
              <a:rPr lang="ru-RU" sz="2000" dirty="0" err="1"/>
              <a:t>GitHub</a:t>
            </a:r>
            <a:r>
              <a:rPr lang="ru-RU" sz="2000" dirty="0"/>
              <a:t>, что подтверждает готовность модуля к внедрению в лечебном учреждении.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5087406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Список используемой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92399"/>
            <a:ext cx="10693400" cy="3672408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ru-RU" sz="2000" dirty="0"/>
              <a:t>ГБУ РД «Кизлярская ЦГБ».. Официальный сайт.</a:t>
            </a:r>
          </a:p>
          <a:p>
            <a:pPr algn="l">
              <a:buFont typeface="+mj-lt"/>
              <a:buAutoNum type="arabicPeriod"/>
            </a:pPr>
            <a:r>
              <a:rPr lang="ru-RU" sz="2000" dirty="0"/>
              <a:t>ГОСТ 12.2.032-78. ССБТ. Рабочее место при выполнении работ сидя. – М.: </a:t>
            </a:r>
            <a:r>
              <a:rPr lang="ru-RU" sz="2000" dirty="0" err="1"/>
              <a:t>Стандартинформ</a:t>
            </a:r>
            <a:r>
              <a:rPr lang="ru-RU" sz="2000" dirty="0"/>
              <a:t>, 2000.</a:t>
            </a:r>
          </a:p>
          <a:p>
            <a:pPr algn="l">
              <a:buFont typeface="+mj-lt"/>
              <a:buAutoNum type="arabicPeriod"/>
            </a:pPr>
            <a:r>
              <a:rPr lang="ru-RU" sz="2000" dirty="0"/>
              <a:t>СанПиН 1.2.3685-21 «Гигиенические нормативы и требования к обеспечению безопасности…». – М.: Роспотребнадзор, 2021.</a:t>
            </a:r>
          </a:p>
          <a:p>
            <a:pPr algn="l">
              <a:buFont typeface="+mj-lt"/>
              <a:buAutoNum type="arabicPeriod"/>
            </a:pPr>
            <a:r>
              <a:rPr lang="ru-RU" sz="2000" dirty="0"/>
              <a:t>Microsoft </a:t>
            </a:r>
            <a:r>
              <a:rPr lang="ru-RU" sz="2000" dirty="0" err="1"/>
              <a:t>Docs</a:t>
            </a:r>
            <a:r>
              <a:rPr lang="ru-RU" sz="2000" dirty="0"/>
              <a:t>. Windows </a:t>
            </a:r>
            <a:r>
              <a:rPr lang="ru-RU" sz="2000" dirty="0" err="1"/>
              <a:t>Forms</a:t>
            </a:r>
            <a:r>
              <a:rPr lang="ru-RU" sz="2000" dirty="0"/>
              <a:t> для .NET. – URL: </a:t>
            </a:r>
            <a:r>
              <a:rPr lang="ru-RU" sz="1600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2"/>
              </a:rPr>
              <a:t>https://learn.microsoft.com/ru-ru/dotnet/desktop/winforms/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2000" dirty="0" err="1"/>
              <a:t>Newtonsoft.Json</a:t>
            </a:r>
            <a:r>
              <a:rPr lang="ru-RU" sz="2000" dirty="0"/>
              <a:t>. Документация. – URL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lang="ru-RU" sz="1600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3"/>
              </a:rPr>
              <a:t>https://www.newtonsoft.com/json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2000" dirty="0" err="1"/>
              <a:t>Албахари</a:t>
            </a:r>
            <a:r>
              <a:rPr lang="ru-RU" sz="2000" dirty="0"/>
              <a:t> Д. C# 9.0. Справочник. – М.: Вильямс, 2021. – 1040 с.</a:t>
            </a:r>
          </a:p>
          <a:p>
            <a:pPr algn="l">
              <a:buFont typeface="+mj-lt"/>
              <a:buAutoNum type="arabicPeriod"/>
            </a:pPr>
            <a:r>
              <a:rPr lang="ru-RU" sz="2000" dirty="0" err="1"/>
              <a:t>Троелсен</a:t>
            </a:r>
            <a:r>
              <a:rPr lang="ru-RU" sz="2000" dirty="0"/>
              <a:t> Э., </a:t>
            </a:r>
            <a:r>
              <a:rPr lang="ru-RU" sz="2000" dirty="0" err="1"/>
              <a:t>Джепикс</a:t>
            </a:r>
            <a:r>
              <a:rPr lang="ru-RU" sz="2000" dirty="0"/>
              <a:t> Ф. C# 7.0 и платформа .NET Core. – М.: ДМК Пресс, 2018. – 1328 с.</a:t>
            </a:r>
          </a:p>
          <a:p>
            <a:pPr algn="l">
              <a:buFont typeface="+mj-lt"/>
              <a:buAutoNum type="arabicPeriod"/>
            </a:pPr>
            <a:r>
              <a:rPr lang="ru-RU" sz="2000" dirty="0" err="1"/>
              <a:t>GitHub</a:t>
            </a:r>
            <a:r>
              <a:rPr lang="ru-RU" sz="2000" dirty="0"/>
              <a:t> </a:t>
            </a:r>
            <a:r>
              <a:rPr lang="ru-RU" sz="2000" dirty="0" err="1"/>
              <a:t>Guides</a:t>
            </a:r>
            <a:r>
              <a:rPr lang="ru-RU" sz="2000" dirty="0"/>
              <a:t>. Работа с удалёнными репозиториями. – URL</a:t>
            </a:r>
            <a:r>
              <a:rPr lang="ru-RU" sz="1600" b="0" i="0" dirty="0">
                <a:solidFill>
                  <a:srgbClr val="0F1115"/>
                </a:solidFill>
                <a:effectLst/>
                <a:latin typeface="quote-cjk-patch"/>
              </a:rPr>
              <a:t>: </a:t>
            </a:r>
            <a:r>
              <a:rPr lang="ru-RU" sz="1600" b="0" i="0" u="none" strike="noStrike" dirty="0">
                <a:solidFill>
                  <a:srgbClr val="3964FE"/>
                </a:solidFill>
                <a:effectLst/>
                <a:latin typeface="quote-cjk-patch"/>
                <a:hlinkClick r:id="rId4"/>
              </a:rPr>
              <a:t>https://docs.github.com/ru</a:t>
            </a:r>
            <a:endParaRPr lang="ru-RU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>
              <a:buFont typeface="+mj-lt"/>
              <a:buAutoNum type="arabicPeriod"/>
            </a:pPr>
            <a:r>
              <a:rPr lang="ru-RU" sz="2000" dirty="0"/>
              <a:t>Методические указания по прохождению практики (внутренний документ техникума).</a:t>
            </a:r>
          </a:p>
          <a:p>
            <a:pPr>
              <a:buFont typeface="+mj-lt"/>
              <a:buAutoNum type="arabicPeriod"/>
            </a:pPr>
            <a:r>
              <a:rPr lang="ru-RU" sz="2000" dirty="0"/>
              <a:t>Инструкция по охране труда оператора ПЭВМ (ГБУ РД «Кизлярская ЦГБ».).</a:t>
            </a:r>
          </a:p>
        </p:txBody>
      </p:sp>
    </p:spTree>
    <p:extLst>
      <p:ext uri="{BB962C8B-B14F-4D97-AF65-F5344CB8AC3E}">
        <p14:creationId xmlns:p14="http://schemas.microsoft.com/office/powerpoint/2010/main" val="14233635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6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946</Words>
  <Application>Microsoft Office PowerPoint</Application>
  <PresentationFormat>Произвольный</PresentationFormat>
  <Paragraphs>292</Paragraphs>
  <Slides>21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Calibri</vt:lpstr>
      <vt:lpstr>Calibri Light</vt:lpstr>
      <vt:lpstr>Courier New</vt:lpstr>
      <vt:lpstr>Menlo</vt:lpstr>
      <vt:lpstr>quote-cjk-patch</vt:lpstr>
      <vt:lpstr>Times New Roman</vt:lpstr>
      <vt:lpstr>Тема Office</vt:lpstr>
      <vt:lpstr>   ОТЧЕТ  о прохождении производственной практики   по профессиональному модулю ПМ.01 Разработка программных модулей программного обеспечения компьютерных систем  в период с «__» _________ 20__ г. по «__» _________ 20__ г.  Специальность 09.02.07 Информационные системы и программирование  </vt:lpstr>
      <vt:lpstr>Содержание</vt:lpstr>
      <vt:lpstr>Организационный этап</vt:lpstr>
      <vt:lpstr>Техника безопасности</vt:lpstr>
      <vt:lpstr>Анализ предметной области</vt:lpstr>
      <vt:lpstr>Анализ предметной области</vt:lpstr>
      <vt:lpstr>Анализ предметной области</vt:lpstr>
      <vt:lpstr>Анализ предметной области</vt:lpstr>
      <vt:lpstr>Разработка спецификаций</vt:lpstr>
      <vt:lpstr>Разработка спецификаций</vt:lpstr>
      <vt:lpstr>Разработка спецификаций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Разработка кода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Тестирование программного модуля</vt:lpstr>
      <vt:lpstr>Выводы</vt:lpstr>
      <vt:lpstr>Список используемой литературы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rpk2024.7</cp:lastModifiedBy>
  <cp:revision>359</cp:revision>
  <cp:lastPrinted>2019-08-06T13:15:09Z</cp:lastPrinted>
  <dcterms:created xsi:type="dcterms:W3CDTF">2020-03-27T22:15:06Z</dcterms:created>
  <dcterms:modified xsi:type="dcterms:W3CDTF">2026-06-02T13:08:00Z</dcterms:modified>
</cp:coreProperties>
</file>